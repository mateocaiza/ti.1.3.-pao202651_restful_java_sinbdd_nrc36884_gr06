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300" r:id="rId4"/>
    <p:sldId id="258" r:id="rId5"/>
    <p:sldId id="259" r:id="rId6"/>
    <p:sldId id="261" r:id="rId7"/>
    <p:sldId id="262" r:id="rId8"/>
    <p:sldId id="278" r:id="rId9"/>
    <p:sldId id="279" r:id="rId10"/>
    <p:sldId id="284" r:id="rId11"/>
    <p:sldId id="329" r:id="rId12"/>
    <p:sldId id="287" r:id="rId13"/>
    <p:sldId id="293" r:id="rId14"/>
    <p:sldId id="295" r:id="rId16"/>
    <p:sldId id="321" r:id="rId17"/>
    <p:sldId id="296" r:id="rId19"/>
    <p:sldId id="297" r:id="rId20"/>
    <p:sldId id="29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82" Type="http://customschemas.google.com/relationships/presentationmetadata" Target="meta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oracle.com/java/technologies/java-ee-glanc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RESTFUL EN JAVA SIN BASE DE DATOS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Mateo Llumigusin</a:t>
            </a:r>
          </a:p>
          <a:p>
            <a:pPr marL="0" lvl="0" indent="0" algn="l" rtl="0">
              <a:lnSpc>
                <a:spcPct val="100000"/>
              </a:lnSpc>
              <a:spcBef>
                <a:spcPts val="0"/>
              </a:spcBef>
              <a:spcAft>
                <a:spcPts val="0"/>
              </a:spcAft>
              <a:buSzPts val="1472"/>
              <a:buNone/>
            </a:pPr>
            <a:r>
              <a:rPr lang="es-ES" b="1" dirty="0">
                <a:solidFill>
                  <a:schemeClr val="lt1"/>
                </a:solidFill>
              </a:rPr>
              <a:t>		Samir Mideros</a:t>
            </a:r>
            <a:endParaRPr dirty="0">
              <a:solidFill>
                <a:schemeClr val="lt1"/>
              </a:solidFill>
            </a:endParaRPr>
          </a:p>
          <a:p>
            <a:pPr marL="0" lvl="0" indent="0" algn="l" rtl="0">
              <a:lnSpc>
                <a:spcPct val="100000"/>
              </a:lnSpc>
              <a:spcBef>
                <a:spcPts val="0"/>
              </a:spcBef>
              <a:spcAft>
                <a:spcPts val="0"/>
              </a:spcAft>
              <a:buSzPts val="1472"/>
              <a:buNone/>
            </a:pPr>
            <a:r>
              <a:rPr lang="es-ES" b="1" dirty="0">
                <a:solidFill>
                  <a:schemeClr val="lt1"/>
                </a:solidFill>
              </a:rPr>
              <a:t>		Cesar Loor</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36884</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28/10/2026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RESTful en Java que permita la conversión de unidades de longitud, masa y temperatura.</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operaciones para convertir unidades de longitud, masa y temperatura sin uso de base de datos.</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Java para crear, desplegar y consumir el servicio web desde clientes de consola, escritorio y móvil.</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capas lógicas (modelo, servicio, controlador y vista)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Verificar el correcto funcionamiento de las operaciones de conversión con pruebas desde los clientes.</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Validar el acceso mediante autenticación con las credenciales MONSTER / MONSTER69 y comprobar los resultados en cada cliente.</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36" name="Google Shape;136;p8"/>
          <p:cNvPicPr preferRelativeResize="0"/>
          <p:nvPr/>
        </p:nvPicPr>
        <p:blipFill>
          <a:blip r:embed="rId3">
            <a:alphaModFix/>
          </a:blip>
          <a:stretch>
            <a:fillRect/>
          </a:stretch>
        </p:blipFill>
        <p:spPr>
          <a:xfrm>
            <a:off x="3552825" y="2215731"/>
            <a:ext cx="5086350" cy="3638550"/>
          </a:xfrm>
          <a:prstGeom prst="rect">
            <a:avLst/>
          </a:prstGeom>
          <a:noFill/>
          <a:ln>
            <a:noFill/>
          </a:ln>
        </p:spPr>
      </p:pic>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Para empezar con la creación del web service RESTful sin base de datos en Java, se crea un proyecto de tipo “Web Application” con RESTful Web Services en Apache NetBeans 21.</a:t>
            </a:r>
            <a:endParaRPr>
              <a:solidFill>
                <a:schemeClr val="dk1"/>
              </a:solidFill>
            </a:endParaRPr>
          </a:p>
          <a:p>
            <a:pPr marL="457200" lvl="0" indent="0" algn="l" rtl="0">
              <a:lnSpc>
                <a:spcPct val="115000"/>
              </a:lnSpc>
              <a:spcBef>
                <a:spcPts val="0"/>
              </a:spcBef>
              <a:spcAft>
                <a:spcPts val="0"/>
              </a:spcAft>
              <a:buNone/>
            </a:pP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El proyecto correrá en Payara Server 5 con Java EE 8 Web, publicando los recursos con JAX-RS bajo /webresources.</a:t>
            </a:r>
            <a:endParaRPr>
              <a:solidFill>
                <a:schemeClr val="dk1"/>
              </a:solidFill>
            </a:endParaRPr>
          </a:p>
          <a:p>
            <a:pPr marL="0" lvl="0" indent="0" algn="l" rtl="0">
              <a:lnSpc>
                <a:spcPct val="115000"/>
              </a:lnSpc>
              <a:spcBef>
                <a:spcPts val="1200"/>
              </a:spcBef>
              <a:spcAft>
                <a:spcPts val="0"/>
              </a:spcAft>
              <a:buClr>
                <a:schemeClr val="dk1"/>
              </a:buClr>
              <a:buSzPts val="1656"/>
              <a:buNone/>
            </a:pPr>
            <a:r>
              <a:rPr lang="es-ES">
                <a:solidFill>
                  <a:schemeClr val="dk1"/>
                </a:solidFill>
              </a:rPr>
              <a:t> </a:t>
            </a: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58" name="Google Shape;158;g2524d66b2ad_0_10" descr="Interfaz de usuario gráfica, Texto, Aplicación&#10;&#10;Descripción generada automáticamente"/>
          <p:cNvPicPr preferRelativeResize="0"/>
          <p:nvPr/>
        </p:nvPicPr>
        <p:blipFill>
          <a:blip r:embed="rId3">
            <a:alphaModFix/>
          </a:blip>
          <a:stretch>
            <a:fillRect/>
          </a:stretch>
        </p:blipFill>
        <p:spPr>
          <a:xfrm>
            <a:off x="789751" y="4157853"/>
            <a:ext cx="3699900" cy="2575625"/>
          </a:xfrm>
          <a:prstGeom prst="rect">
            <a:avLst/>
          </a:prstGeom>
          <a:noFill/>
          <a:ln>
            <a:noFill/>
          </a:ln>
        </p:spPr>
      </p:pic>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61BF90E4-2C39-3FFD-D3D0-6EA62B4BB893}"/>
              </a:ext>
            </a:extLst>
          </p:cNvPr>
          <p:cNvPicPr>
            <a:picLocks noChangeAspect="1"/>
          </p:cNvPicPr>
          <p:nvPr/>
        </p:nvPicPr>
        <p:blipFill>
          <a:blip r:embed="rId4"/>
          <a:stretch>
            <a:fillRect/>
          </a:stretch>
        </p:blipFill>
        <p:spPr>
          <a:xfrm>
            <a:off x="1012710" y="1897936"/>
            <a:ext cx="3038469" cy="203238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Se crean ApplicationConfig y el recurso ConversionUnidades (ec.edu.monster.ws) y luego se procede a la codificación de las rutas de conversión.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a:blip r:embed="rId3"/>
          <a:stretch>
            <a:fillRect/>
          </a:stretch>
        </p:blipFill>
        <p:spPr>
          <a:xfrm>
            <a:off x="3961911" y="3429000"/>
            <a:ext cx="4727575" cy="154686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las aplicaciones cliente; para el cliente de escritorio se crea un nuevo proyecto de tipo Java Application (Swing).</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F263B2C0-A2F9-BA45-878D-79922572D931}"/>
              </a:ext>
            </a:extLst>
          </p:cNvPr>
          <p:cNvPicPr>
            <a:picLocks noChangeAspect="1"/>
          </p:cNvPicPr>
          <p:nvPr/>
        </p:nvPicPr>
        <p:blipFill>
          <a:blip r:embed="rId3"/>
          <a:stretch>
            <a:fillRect/>
          </a:stretch>
        </p:blipFill>
        <p:spPr>
          <a:xfrm>
            <a:off x="3942851" y="2505486"/>
            <a:ext cx="5125165" cy="30198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cliente consume el servicio RESTful mediante peticiones HTTP a /webresources/conversion/{valor}/{origen}/{destino} y a la ruta de autenticación del servidor.</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(JFrame </a:t>
            </a:r>
            <a:r>
              <a:rPr lang="es-MX" dirty="0" err="1">
                <a:solidFill>
                  <a:schemeClr val="dk1"/>
                </a:solidFill>
              </a:rPr>
              <a:t>Form</a:t>
            </a:r>
            <a:r>
              <a:rPr lang="es-MX" dirty="0">
                <a:solidFill>
                  <a:schemeClr val="dk1"/>
                </a:solidFill>
              </a:rPr>
              <a:t>)  para </a:t>
            </a:r>
            <a:r>
              <a:rPr lang="es-EC" dirty="0">
                <a:solidFill>
                  <a:schemeClr val="dk1"/>
                </a:solidFill>
              </a:rPr>
              <a:t>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F01CC4F-5B3D-B8C0-E049-3AB96A13EAB8}"/>
              </a:ext>
            </a:extLst>
          </p:cNvPr>
          <p:cNvPicPr>
            <a:picLocks noChangeAspect="1"/>
          </p:cNvPicPr>
          <p:nvPr/>
        </p:nvPicPr>
        <p:blipFill>
          <a:blip r:embed="rId3"/>
          <a:stretch>
            <a:fillRect/>
          </a:stretch>
        </p:blipFill>
        <p:spPr>
          <a:xfrm>
            <a:off x="4030602" y="2584382"/>
            <a:ext cx="4859587" cy="30610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(JFrame </a:t>
            </a:r>
            <a:r>
              <a:rPr lang="es-MX" dirty="0" err="1">
                <a:solidFill>
                  <a:schemeClr val="dk1"/>
                </a:solidFill>
              </a:rPr>
              <a:t>Form</a:t>
            </a:r>
            <a:r>
              <a:rPr lang="es-MX" dirty="0">
                <a:solidFill>
                  <a:schemeClr val="dk1"/>
                </a:solidFill>
              </a:rPr>
              <a:t>)  </a:t>
            </a:r>
            <a:r>
              <a:rPr lang="es-EC" dirty="0">
                <a:solidFill>
                  <a:schemeClr val="dk1"/>
                </a:solidFill>
              </a:rPr>
              <a:t>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667854C-2BCA-23A4-106D-54F6F23E98FA}"/>
              </a:ext>
            </a:extLst>
          </p:cNvPr>
          <p:cNvPicPr>
            <a:picLocks noChangeAspect="1"/>
          </p:cNvPicPr>
          <p:nvPr/>
        </p:nvPicPr>
        <p:blipFill>
          <a:blip r:embed="rId3"/>
          <a:stretch>
            <a:fillRect/>
          </a:stretch>
        </p:blipFill>
        <p:spPr>
          <a:xfrm>
            <a:off x="3633823" y="2236304"/>
            <a:ext cx="5122550" cy="3043227"/>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08A14BF4-F875-420D-9C69-85F16EC346D9}"/>
              </a:ext>
            </a:extLst>
          </p:cNvPr>
          <p:cNvPicPr/>
          <p:nvPr/>
        </p:nvPicPr>
        <p:blipFill>
          <a:blip r:embed="rId3"/>
          <a:stretch>
            <a:fillRect/>
          </a:stretch>
        </p:blipFill>
        <p:spPr>
          <a:xfrm>
            <a:off x="3149649" y="2218412"/>
            <a:ext cx="3156325" cy="1678756"/>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9E02E913-8741-4690-BEE2-367EA4FD8362}"/>
              </a:ext>
            </a:extLst>
          </p:cNvPr>
          <p:cNvPicPr/>
          <p:nvPr/>
        </p:nvPicPr>
        <p:blipFill rotWithShape="1">
          <a:blip r:embed="rId4"/>
          <a:srcRect b="7514"/>
          <a:stretch/>
        </p:blipFill>
        <p:spPr bwMode="auto">
          <a:xfrm>
            <a:off x="3088180" y="4216680"/>
            <a:ext cx="3271979" cy="19478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a:extLst>
            <a:ext uri="{53640926-AAD7-44D8-BBD7-CCE9431645EC}">
              <a14:shadowObscured xmlns:a14="http://schemas.microsoft.com/office/drawing/2010/main"/>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30C689D-356E-0492-265D-7A95BE6D9ED6}"/>
              </a:ext>
            </a:extLst>
          </p:cNvPr>
          <p:cNvPicPr>
            <a:picLocks noChangeAspect="1"/>
          </p:cNvPicPr>
          <p:nvPr/>
        </p:nvPicPr>
        <p:blipFill>
          <a:blip r:embed="rId3"/>
          <a:stretch>
            <a:fillRect/>
          </a:stretch>
        </p:blipFill>
        <p:spPr>
          <a:xfrm>
            <a:off x="1960578" y="2094899"/>
            <a:ext cx="5543466" cy="39837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8E7E138-81D4-04AA-031E-9CFB410FECD6}"/>
              </a:ext>
            </a:extLst>
          </p:cNvPr>
          <p:cNvPicPr>
            <a:picLocks noChangeAspect="1"/>
          </p:cNvPicPr>
          <p:nvPr/>
        </p:nvPicPr>
        <p:blipFill>
          <a:blip r:embed="rId3"/>
          <a:stretch>
            <a:fillRect/>
          </a:stretch>
        </p:blipFill>
        <p:spPr>
          <a:xfrm>
            <a:off x="3000000" y="2514064"/>
            <a:ext cx="3343742" cy="4086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3FE5B071-7888-3892-457E-EB6963F41D32}"/>
              </a:ext>
            </a:extLst>
          </p:cNvPr>
          <p:cNvPicPr>
            <a:picLocks noChangeAspect="1"/>
          </p:cNvPicPr>
          <p:nvPr/>
        </p:nvPicPr>
        <p:blipFill>
          <a:blip r:embed="rId3"/>
          <a:stretch>
            <a:fillRect/>
          </a:stretch>
        </p:blipFill>
        <p:spPr>
          <a:xfrm>
            <a:off x="392325" y="1530626"/>
            <a:ext cx="4702124" cy="2961861"/>
          </a:xfrm>
          <a:prstGeom prst="rect">
            <a:avLst/>
          </a:prstGeom>
        </p:spPr>
      </p:pic>
      <p:pic>
        <p:nvPicPr>
          <p:cNvPr id="6" name="Imagen 5">
            <a:extLst>
              <a:ext uri="{FF2B5EF4-FFF2-40B4-BE49-F238E27FC236}">
                <a16:creationId xmlns:a16="http://schemas.microsoft.com/office/drawing/2014/main" id="{DCC5F5B4-A8D4-825A-F9F7-788DF3D1C9BE}"/>
              </a:ext>
            </a:extLst>
          </p:cNvPr>
          <p:cNvPicPr>
            <a:picLocks noChangeAspect="1"/>
          </p:cNvPicPr>
          <p:nvPr/>
        </p:nvPicPr>
        <p:blipFill>
          <a:blip r:embed="rId4"/>
          <a:stretch>
            <a:fillRect/>
          </a:stretch>
        </p:blipFill>
        <p:spPr>
          <a:xfrm>
            <a:off x="4071758" y="3899661"/>
            <a:ext cx="4784826" cy="2842591"/>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3	</a:t>
            </a:r>
            <a:r>
              <a:rPr lang="es-ES" sz="1100" dirty="0">
                <a:solidFill>
                  <a:srgbClr val="FFFF00"/>
                </a:solidFill>
                <a:latin typeface="Gill Sans"/>
                <a:ea typeface="Gill Sans"/>
                <a:cs typeface="Gill Sans"/>
                <a:sym typeface="Gill Sans"/>
              </a:rPr>
              <a:t>EJECUCIÓN</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dirty="0">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2F7542BD-5DE0-627D-39B2-C82C33FE5622}"/>
              </a:ext>
            </a:extLst>
          </p:cNvPr>
          <p:cNvPicPr>
            <a:picLocks noChangeAspect="1"/>
          </p:cNvPicPr>
          <p:nvPr/>
        </p:nvPicPr>
        <p:blipFill>
          <a:blip r:embed="rId3"/>
          <a:stretch>
            <a:fillRect/>
          </a:stretch>
        </p:blipFill>
        <p:spPr>
          <a:xfrm>
            <a:off x="1909141" y="1887412"/>
            <a:ext cx="2174148" cy="4831440"/>
          </a:xfrm>
          <a:prstGeom prst="rect">
            <a:avLst/>
          </a:prstGeom>
        </p:spPr>
      </p:pic>
      <p:pic>
        <p:nvPicPr>
          <p:cNvPr id="6" name="Imagen 5">
            <a:extLst>
              <a:ext uri="{FF2B5EF4-FFF2-40B4-BE49-F238E27FC236}">
                <a16:creationId xmlns:a16="http://schemas.microsoft.com/office/drawing/2014/main" id="{1324CC2A-38F5-A77A-CBBA-CF02338D7F02}"/>
              </a:ext>
            </a:extLst>
          </p:cNvPr>
          <p:cNvPicPr>
            <a:picLocks noChangeAspect="1"/>
          </p:cNvPicPr>
          <p:nvPr/>
        </p:nvPicPr>
        <p:blipFill>
          <a:blip r:embed="rId4"/>
          <a:stretch>
            <a:fillRect/>
          </a:stretch>
        </p:blipFill>
        <p:spPr>
          <a:xfrm>
            <a:off x="4552950" y="2026558"/>
            <a:ext cx="2174148" cy="48314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desarrollar un servicio web RESTful sin base de datos en Java con JAX-RS sobre Payara Server 5 y consumirlo desde clientes de consola, escritorio y móvil.</a:t>
            </a:r>
          </a:p>
          <a:p>
            <a:pPr indent="-325869">
              <a:lnSpc>
                <a:spcPct val="110000"/>
              </a:lnSpc>
              <a:spcBef>
                <a:spcPts val="960"/>
              </a:spcBef>
              <a:buClr>
                <a:schemeClr val="dk1"/>
              </a:buClr>
              <a:buSzPct val="91999"/>
            </a:pPr>
            <a:r>
              <a:rPr lang="es-EC" altLang="es-EC" dirty="0"/>
              <a:t>La separación en capas (controlador, servicio, vista) y el uso de HTTP simplifican el consumo; el acceso se controla con las credenciales MONSTER / MONSTER69.</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Deitel, P., &amp; Deitel, H. (2017). Java How to Program (Late Objects)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Maxim, B. R. (2019). Software Engineering: A Practitioner's Approach (9th ed.). McGraw-Hill Education.</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Effective Java (3rd ed.). Addison-Wesley.</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3509</Words>
  <Application>Microsoft Office PowerPoint</Application>
  <PresentationFormat>Panorámica</PresentationFormat>
  <Paragraphs>749</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Calibri</vt:lpstr>
      <vt:lpstr>Gill Sans</vt:lpstr>
      <vt:lpstr>Noto Sans Symbols</vt:lpstr>
      <vt:lpstr>Arial</vt:lpstr>
      <vt:lpstr>Times New Roman</vt:lpstr>
      <vt:lpstr>Symbol</vt:lpstr>
      <vt:lpstr>Dividendo</vt:lpstr>
      <vt:lpstr>CONVERSIÓN DE UNIDADES SOAP EN JAVA SIN BASE DE DATOS  </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Ejecución del cliente web: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ARIEL XD</cp:lastModifiedBy>
  <cp:revision>8</cp:revision>
  <dcterms:created xsi:type="dcterms:W3CDTF">2020-07-10T23:33:49Z</dcterms:created>
  <dcterms:modified xsi:type="dcterms:W3CDTF">2026-05-13T01:27:01Z</dcterms:modified>
</cp:coreProperties>
</file>